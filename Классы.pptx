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Вид изнутри каменной конструкции на лестницу и ясное голубое небо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Современное белое здание со стеклянными панелями на фоне ясного голубого неба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Небольшая часть современного моста в виде ракушки в Циндао (Шаньдун, Китай) под небом с редкими облаками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Вид под углом снизу на фасад современного здания с алюминиевыми дисками под ясным голубым небом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Вид под углом снизу на современное изогнутое здание под облачным небом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Вид изнутри современного белого здания со стеклянными панелями на ясное небо с редкими облаками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Вид под углом снизу на башню Азади в Тегеране (Иран) на фоне безоблачного ясного неба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Москва, 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ctr"/>
          </a:lstStyle>
          <a:p>
            <a:pPr/>
            <a:r>
              <a:t>Москва, 2025</a:t>
            </a:r>
          </a:p>
        </p:txBody>
      </p:sp>
      <p:sp>
        <p:nvSpPr>
          <p:cNvPr id="152" name="Классы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Классы</a:t>
            </a:r>
          </a:p>
        </p:txBody>
      </p:sp>
      <p:sp>
        <p:nvSpPr>
          <p:cNvPr id="153" name="Объявление. Внутренние функции. Вызов. Наследование"/>
          <p:cNvSpPr txBox="1"/>
          <p:nvPr>
            <p:ph type="subTitle" sz="quarter" idx="1"/>
          </p:nvPr>
        </p:nvSpPr>
        <p:spPr>
          <a:xfrm>
            <a:off x="1206500" y="7604190"/>
            <a:ext cx="21971000" cy="1905001"/>
          </a:xfrm>
          <a:prstGeom prst="rect">
            <a:avLst/>
          </a:prstGeom>
        </p:spPr>
        <p:txBody>
          <a:bodyPr/>
          <a:lstStyle/>
          <a:p>
            <a:pPr/>
            <a:r>
              <a:t>Объявление. Внутренние функции. Вызов. Наследование</a:t>
            </a:r>
          </a:p>
        </p:txBody>
      </p:sp>
      <p:sp>
        <p:nvSpPr>
          <p:cNvPr id="154" name="Проектирование и разработка веб-приложений. Лекция 5."/>
          <p:cNvSpPr txBox="1"/>
          <p:nvPr/>
        </p:nvSpPr>
        <p:spPr>
          <a:xfrm>
            <a:off x="149491" y="275013"/>
            <a:ext cx="137862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defTabSz="825500">
              <a:defRPr i="1" sz="3600">
                <a:solidFill>
                  <a:srgbClr val="434343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Проектирование и разработка веб-приложений. Лекция 5.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Повестка дн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Повестка дня</a:t>
            </a:r>
          </a:p>
        </p:txBody>
      </p:sp>
      <p:sp>
        <p:nvSpPr>
          <p:cNvPr id="157" name="Объявление…………………….3…"/>
          <p:cNvSpPr txBox="1"/>
          <p:nvPr>
            <p:ph type="body" idx="21"/>
          </p:nvPr>
        </p:nvSpPr>
        <p:spPr>
          <a:xfrm>
            <a:off x="1206500" y="4008041"/>
            <a:ext cx="9705777" cy="89582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Объявление…………………….3</a:t>
            </a:r>
          </a:p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Вызов……………………………4</a:t>
            </a:r>
          </a:p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Внутренние функции…………5</a:t>
            </a:r>
          </a:p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Наследование…………………6</a:t>
            </a:r>
          </a:p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Переопределение…………….7</a:t>
            </a:r>
          </a:p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Статика…………………………8</a:t>
            </a:r>
          </a:p>
          <a:p>
            <a:pPr marL="609600" indent="-609600" algn="just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Приватность и публичность…9</a:t>
            </a:r>
          </a:p>
        </p:txBody>
      </p:sp>
      <p:grpSp>
        <p:nvGrpSpPr>
          <p:cNvPr id="160" name="Сгруппировать"/>
          <p:cNvGrpSpPr/>
          <p:nvPr/>
        </p:nvGrpSpPr>
        <p:grpSpPr>
          <a:xfrm>
            <a:off x="11684053" y="3108668"/>
            <a:ext cx="11943954" cy="8494713"/>
            <a:chOff x="0" y="0"/>
            <a:chExt cx="11943953" cy="8494712"/>
          </a:xfrm>
        </p:grpSpPr>
        <p:pic>
          <p:nvPicPr>
            <p:cNvPr id="158" name="Изображение" descr="Изображение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7921" t="6318" r="7524" b="6317"/>
            <a:stretch>
              <a:fillRect/>
            </a:stretch>
          </p:blipFill>
          <p:spPr>
            <a:xfrm>
              <a:off x="0" y="0"/>
              <a:ext cx="11943954" cy="8494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665" y="0"/>
                  </a:moveTo>
                  <a:lnTo>
                    <a:pt x="5665" y="2239"/>
                  </a:lnTo>
                  <a:lnTo>
                    <a:pt x="5665" y="4477"/>
                  </a:lnTo>
                  <a:lnTo>
                    <a:pt x="10294" y="4477"/>
                  </a:lnTo>
                  <a:lnTo>
                    <a:pt x="14923" y="4477"/>
                  </a:lnTo>
                  <a:lnTo>
                    <a:pt x="14923" y="2239"/>
                  </a:lnTo>
                  <a:lnTo>
                    <a:pt x="14923" y="0"/>
                  </a:lnTo>
                  <a:lnTo>
                    <a:pt x="10294" y="0"/>
                  </a:lnTo>
                  <a:lnTo>
                    <a:pt x="5665" y="0"/>
                  </a:lnTo>
                  <a:close/>
                  <a:moveTo>
                    <a:pt x="14957" y="4690"/>
                  </a:moveTo>
                  <a:cubicBezTo>
                    <a:pt x="14931" y="4690"/>
                    <a:pt x="14941" y="4745"/>
                    <a:pt x="14979" y="4814"/>
                  </a:cubicBezTo>
                  <a:cubicBezTo>
                    <a:pt x="15107" y="5043"/>
                    <a:pt x="16223" y="6854"/>
                    <a:pt x="16369" y="7069"/>
                  </a:cubicBezTo>
                  <a:cubicBezTo>
                    <a:pt x="16505" y="7269"/>
                    <a:pt x="16949" y="7992"/>
                    <a:pt x="17407" y="8757"/>
                  </a:cubicBezTo>
                  <a:cubicBezTo>
                    <a:pt x="17543" y="8984"/>
                    <a:pt x="17589" y="9106"/>
                    <a:pt x="17544" y="9126"/>
                  </a:cubicBezTo>
                  <a:cubicBezTo>
                    <a:pt x="17508" y="9142"/>
                    <a:pt x="17444" y="9172"/>
                    <a:pt x="17402" y="9193"/>
                  </a:cubicBezTo>
                  <a:cubicBezTo>
                    <a:pt x="17360" y="9214"/>
                    <a:pt x="17428" y="9224"/>
                    <a:pt x="17553" y="9216"/>
                  </a:cubicBezTo>
                  <a:cubicBezTo>
                    <a:pt x="17780" y="9201"/>
                    <a:pt x="17781" y="9201"/>
                    <a:pt x="17797" y="8922"/>
                  </a:cubicBezTo>
                  <a:lnTo>
                    <a:pt x="17813" y="8639"/>
                  </a:lnTo>
                  <a:lnTo>
                    <a:pt x="17717" y="8808"/>
                  </a:lnTo>
                  <a:lnTo>
                    <a:pt x="17620" y="8976"/>
                  </a:lnTo>
                  <a:lnTo>
                    <a:pt x="17295" y="8422"/>
                  </a:lnTo>
                  <a:cubicBezTo>
                    <a:pt x="16742" y="7479"/>
                    <a:pt x="16588" y="7229"/>
                    <a:pt x="16243" y="6711"/>
                  </a:cubicBezTo>
                  <a:cubicBezTo>
                    <a:pt x="16059" y="6435"/>
                    <a:pt x="15705" y="5867"/>
                    <a:pt x="15456" y="5449"/>
                  </a:cubicBezTo>
                  <a:cubicBezTo>
                    <a:pt x="15206" y="5032"/>
                    <a:pt x="14982" y="4690"/>
                    <a:pt x="14957" y="4690"/>
                  </a:cubicBezTo>
                  <a:close/>
                  <a:moveTo>
                    <a:pt x="5652" y="4932"/>
                  </a:moveTo>
                  <a:cubicBezTo>
                    <a:pt x="5641" y="4916"/>
                    <a:pt x="5557" y="5071"/>
                    <a:pt x="5465" y="5276"/>
                  </a:cubicBezTo>
                  <a:cubicBezTo>
                    <a:pt x="5373" y="5481"/>
                    <a:pt x="5239" y="5778"/>
                    <a:pt x="5166" y="5934"/>
                  </a:cubicBezTo>
                  <a:cubicBezTo>
                    <a:pt x="5094" y="6090"/>
                    <a:pt x="5011" y="6271"/>
                    <a:pt x="4982" y="6336"/>
                  </a:cubicBezTo>
                  <a:cubicBezTo>
                    <a:pt x="4954" y="6402"/>
                    <a:pt x="4827" y="6674"/>
                    <a:pt x="4698" y="6941"/>
                  </a:cubicBezTo>
                  <a:cubicBezTo>
                    <a:pt x="4570" y="7208"/>
                    <a:pt x="4436" y="7505"/>
                    <a:pt x="4400" y="7603"/>
                  </a:cubicBezTo>
                  <a:cubicBezTo>
                    <a:pt x="4365" y="7701"/>
                    <a:pt x="4211" y="8046"/>
                    <a:pt x="4059" y="8370"/>
                  </a:cubicBezTo>
                  <a:cubicBezTo>
                    <a:pt x="3835" y="8851"/>
                    <a:pt x="3772" y="8944"/>
                    <a:pt x="3714" y="8877"/>
                  </a:cubicBezTo>
                  <a:cubicBezTo>
                    <a:pt x="3655" y="8808"/>
                    <a:pt x="3642" y="8832"/>
                    <a:pt x="3642" y="9015"/>
                  </a:cubicBezTo>
                  <a:cubicBezTo>
                    <a:pt x="3642" y="9200"/>
                    <a:pt x="3661" y="9237"/>
                    <a:pt x="3756" y="9231"/>
                  </a:cubicBezTo>
                  <a:cubicBezTo>
                    <a:pt x="3818" y="9227"/>
                    <a:pt x="3926" y="9198"/>
                    <a:pt x="3996" y="9167"/>
                  </a:cubicBezTo>
                  <a:cubicBezTo>
                    <a:pt x="4106" y="9117"/>
                    <a:pt x="4109" y="9108"/>
                    <a:pt x="4017" y="9102"/>
                  </a:cubicBezTo>
                  <a:cubicBezTo>
                    <a:pt x="3845" y="9090"/>
                    <a:pt x="3840" y="9020"/>
                    <a:pt x="3989" y="8712"/>
                  </a:cubicBezTo>
                  <a:cubicBezTo>
                    <a:pt x="4154" y="8372"/>
                    <a:pt x="4272" y="8106"/>
                    <a:pt x="4653" y="7202"/>
                  </a:cubicBezTo>
                  <a:cubicBezTo>
                    <a:pt x="4738" y="7002"/>
                    <a:pt x="4840" y="6798"/>
                    <a:pt x="4882" y="6749"/>
                  </a:cubicBezTo>
                  <a:cubicBezTo>
                    <a:pt x="4924" y="6701"/>
                    <a:pt x="4957" y="6636"/>
                    <a:pt x="4957" y="6604"/>
                  </a:cubicBezTo>
                  <a:cubicBezTo>
                    <a:pt x="4957" y="6572"/>
                    <a:pt x="5079" y="6296"/>
                    <a:pt x="5228" y="5990"/>
                  </a:cubicBezTo>
                  <a:cubicBezTo>
                    <a:pt x="5519" y="5393"/>
                    <a:pt x="5685" y="4978"/>
                    <a:pt x="5652" y="4932"/>
                  </a:cubicBezTo>
                  <a:close/>
                  <a:moveTo>
                    <a:pt x="10832" y="8940"/>
                  </a:moveTo>
                  <a:cubicBezTo>
                    <a:pt x="10771" y="8982"/>
                    <a:pt x="10706" y="8992"/>
                    <a:pt x="10651" y="8972"/>
                  </a:cubicBezTo>
                  <a:cubicBezTo>
                    <a:pt x="10684" y="9008"/>
                    <a:pt x="10712" y="9034"/>
                    <a:pt x="10728" y="9034"/>
                  </a:cubicBezTo>
                  <a:cubicBezTo>
                    <a:pt x="10748" y="9034"/>
                    <a:pt x="10789" y="8992"/>
                    <a:pt x="10832" y="8940"/>
                  </a:cubicBezTo>
                  <a:close/>
                  <a:moveTo>
                    <a:pt x="10982" y="8951"/>
                  </a:moveTo>
                  <a:cubicBezTo>
                    <a:pt x="10959" y="8994"/>
                    <a:pt x="10939" y="9035"/>
                    <a:pt x="10896" y="9096"/>
                  </a:cubicBezTo>
                  <a:lnTo>
                    <a:pt x="10861" y="9144"/>
                  </a:lnTo>
                  <a:cubicBezTo>
                    <a:pt x="10882" y="9119"/>
                    <a:pt x="10901" y="9098"/>
                    <a:pt x="10926" y="9060"/>
                  </a:cubicBezTo>
                  <a:cubicBezTo>
                    <a:pt x="10952" y="9021"/>
                    <a:pt x="10968" y="8984"/>
                    <a:pt x="10982" y="8951"/>
                  </a:cubicBezTo>
                  <a:close/>
                  <a:moveTo>
                    <a:pt x="0" y="10231"/>
                  </a:moveTo>
                  <a:lnTo>
                    <a:pt x="0" y="15914"/>
                  </a:lnTo>
                  <a:lnTo>
                    <a:pt x="0" y="21600"/>
                  </a:lnTo>
                  <a:lnTo>
                    <a:pt x="2808" y="21600"/>
                  </a:lnTo>
                  <a:lnTo>
                    <a:pt x="5615" y="21600"/>
                  </a:lnTo>
                  <a:lnTo>
                    <a:pt x="5615" y="15914"/>
                  </a:lnTo>
                  <a:lnTo>
                    <a:pt x="5615" y="10231"/>
                  </a:lnTo>
                  <a:lnTo>
                    <a:pt x="2808" y="10231"/>
                  </a:lnTo>
                  <a:lnTo>
                    <a:pt x="0" y="10231"/>
                  </a:lnTo>
                  <a:close/>
                  <a:moveTo>
                    <a:pt x="7942" y="10231"/>
                  </a:moveTo>
                  <a:lnTo>
                    <a:pt x="7942" y="15914"/>
                  </a:lnTo>
                  <a:lnTo>
                    <a:pt x="7942" y="21600"/>
                  </a:lnTo>
                  <a:lnTo>
                    <a:pt x="13556" y="21600"/>
                  </a:lnTo>
                  <a:lnTo>
                    <a:pt x="13556" y="15914"/>
                  </a:lnTo>
                  <a:lnTo>
                    <a:pt x="13556" y="10231"/>
                  </a:lnTo>
                  <a:lnTo>
                    <a:pt x="10749" y="10231"/>
                  </a:lnTo>
                  <a:lnTo>
                    <a:pt x="7942" y="10231"/>
                  </a:lnTo>
                  <a:close/>
                  <a:moveTo>
                    <a:pt x="15985" y="10231"/>
                  </a:moveTo>
                  <a:lnTo>
                    <a:pt x="15985" y="15914"/>
                  </a:lnTo>
                  <a:lnTo>
                    <a:pt x="15985" y="21600"/>
                  </a:lnTo>
                  <a:lnTo>
                    <a:pt x="21600" y="21600"/>
                  </a:lnTo>
                  <a:lnTo>
                    <a:pt x="21600" y="15914"/>
                  </a:lnTo>
                  <a:lnTo>
                    <a:pt x="21600" y="10231"/>
                  </a:lnTo>
                  <a:lnTo>
                    <a:pt x="18792" y="10231"/>
                  </a:lnTo>
                  <a:lnTo>
                    <a:pt x="15985" y="10231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sp>
          <p:nvSpPr>
            <p:cNvPr id="159" name="Линия"/>
            <p:cNvSpPr/>
            <p:nvPr/>
          </p:nvSpPr>
          <p:spPr>
            <a:xfrm flipV="1">
              <a:off x="5971929" y="1960376"/>
              <a:ext cx="1" cy="169715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arrow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Объявление"/>
          <p:cNvSpPr txBox="1"/>
          <p:nvPr>
            <p:ph type="title"/>
          </p:nvPr>
        </p:nvSpPr>
        <p:spPr>
          <a:xfrm>
            <a:off x="1206500" y="62926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Объявление</a:t>
            </a:r>
          </a:p>
        </p:txBody>
      </p:sp>
      <p:sp>
        <p:nvSpPr>
          <p:cNvPr id="163" name="class Pokemon {…"/>
          <p:cNvSpPr txBox="1"/>
          <p:nvPr>
            <p:ph type="body" idx="21"/>
          </p:nvPr>
        </p:nvSpPr>
        <p:spPr>
          <a:xfrm>
            <a:off x="14010265" y="765375"/>
            <a:ext cx="9380506" cy="1254528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Pokemon {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name = "Аноним";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constructor(name, type, owner, evolution) {</a:t>
            </a:r>
          </a:p>
          <a:p>
            <a:pPr lvl="1" marL="0" indent="324611" defTabSz="1731220">
              <a:spcBef>
                <a:spcPts val="0"/>
              </a:spcBef>
              <a:buSzTx/>
              <a:buNone/>
              <a:defRPr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this.name = name;</a:t>
            </a:r>
          </a:p>
          <a:p>
            <a:pPr lvl="1" marL="0" indent="324611" defTabSz="1731220">
              <a:spcBef>
                <a:spcPts val="0"/>
              </a:spcBef>
              <a:buSzTx/>
              <a:buNone/>
              <a:defRPr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this.type = type;</a:t>
            </a:r>
          </a:p>
          <a:p>
            <a:pPr lvl="1" marL="0" indent="324611" defTabSz="1731220">
              <a:spcBef>
                <a:spcPts val="0"/>
              </a:spcBef>
              <a:buSzTx/>
              <a:buNone/>
              <a:defRPr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this.owner = owner;</a:t>
            </a:r>
          </a:p>
          <a:p>
            <a:pPr lvl="1" marL="0" indent="324611" defTabSz="1731220">
              <a:spcBef>
                <a:spcPts val="0"/>
              </a:spcBef>
              <a:buSzTx/>
              <a:buNone/>
              <a:defRPr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this.evolution = evolution;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call() {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alert(this.owner, " вызывает ", this.name);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function makeClass(phrase) {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return class { </a:t>
            </a:r>
          </a:p>
          <a:p>
            <a:pPr lvl="1" marL="0" indent="324611" defTabSz="1731220">
              <a:spcBef>
                <a:spcPts val="0"/>
              </a:spcBef>
              <a:buSzTx/>
              <a:buNone/>
              <a:defRPr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name;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sayHi() {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  alert(phrase);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};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};</a:t>
            </a:r>
          </a:p>
          <a:p>
            <a:pPr defTabSz="1731220">
              <a:lnSpc>
                <a:spcPct val="90000"/>
              </a:lnSpc>
              <a:defRPr b="0" sz="3407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</p:txBody>
      </p:sp>
      <p:sp>
        <p:nvSpPr>
          <p:cNvPr id="164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5" name="Объявление класса"/>
          <p:cNvSpPr txBox="1"/>
          <p:nvPr/>
        </p:nvSpPr>
        <p:spPr>
          <a:xfrm>
            <a:off x="1860198" y="6453784"/>
            <a:ext cx="57860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lvl1pPr>
          </a:lstStyle>
          <a:p>
            <a:pPr/>
            <a:r>
              <a:t>Объявление класса</a:t>
            </a:r>
          </a:p>
        </p:txBody>
      </p:sp>
      <p:pic>
        <p:nvPicPr>
          <p:cNvPr id="166" name="Линия Линия" descr="Линия Линия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8900000">
            <a:off x="6886225" y="3740225"/>
            <a:ext cx="8201201" cy="457905"/>
          </a:xfrm>
          <a:prstGeom prst="rect">
            <a:avLst/>
          </a:prstGeom>
        </p:spPr>
      </p:pic>
      <p:pic>
        <p:nvPicPr>
          <p:cNvPr id="168" name="Линия Линия" descr="Линия Линия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296174">
            <a:off x="7856154" y="8031866"/>
            <a:ext cx="6268258" cy="457905"/>
          </a:xfrm>
          <a:prstGeom prst="rect">
            <a:avLst/>
          </a:prstGeom>
        </p:spPr>
      </p:pic>
      <p:sp>
        <p:nvSpPr>
          <p:cNvPr id="170" name="Конструктор"/>
          <p:cNvSpPr txBox="1"/>
          <p:nvPr/>
        </p:nvSpPr>
        <p:spPr>
          <a:xfrm>
            <a:off x="2452618" y="4969402"/>
            <a:ext cx="380238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Конструктор</a:t>
            </a:r>
          </a:p>
        </p:txBody>
      </p:sp>
      <p:pic>
        <p:nvPicPr>
          <p:cNvPr id="171" name="Линия Линия" descr="Линия Линия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20328510">
            <a:off x="6390300" y="3776726"/>
            <a:ext cx="8054719" cy="457905"/>
          </a:xfrm>
          <a:prstGeom prst="rect">
            <a:avLst/>
          </a:prstGeom>
        </p:spPr>
      </p:pic>
      <p:pic>
        <p:nvPicPr>
          <p:cNvPr id="173" name="Линия Линия" descr="Линия Линия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20407491">
            <a:off x="6395317" y="6760857"/>
            <a:ext cx="8045186" cy="457904"/>
          </a:xfrm>
          <a:prstGeom prst="rect">
            <a:avLst/>
          </a:prstGeom>
        </p:spPr>
      </p:pic>
      <p:sp>
        <p:nvSpPr>
          <p:cNvPr id="175" name="Метод класса"/>
          <p:cNvSpPr txBox="1"/>
          <p:nvPr/>
        </p:nvSpPr>
        <p:spPr>
          <a:xfrm>
            <a:off x="2300982" y="7931226"/>
            <a:ext cx="41065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5"/>
                </a:solidFill>
              </a:defRPr>
            </a:lvl1pPr>
          </a:lstStyle>
          <a:p>
            <a:pPr/>
            <a:r>
              <a:t>Метод класса</a:t>
            </a:r>
          </a:p>
        </p:txBody>
      </p:sp>
      <p:pic>
        <p:nvPicPr>
          <p:cNvPr id="176" name="Линия Линия" descr="Линия Линия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972171">
            <a:off x="6420093" y="9356855"/>
            <a:ext cx="7992693" cy="457904"/>
          </a:xfrm>
          <a:prstGeom prst="rect">
            <a:avLst/>
          </a:prstGeom>
        </p:spPr>
      </p:pic>
      <p:sp>
        <p:nvSpPr>
          <p:cNvPr id="178" name="alert(typeof Pokemon);   // function"/>
          <p:cNvSpPr txBox="1"/>
          <p:nvPr/>
        </p:nvSpPr>
        <p:spPr>
          <a:xfrm>
            <a:off x="363721" y="2871930"/>
            <a:ext cx="7980173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/>
            </a:lvl1pPr>
          </a:lstStyle>
          <a:p>
            <a:pPr/>
            <a:r>
              <a:t>alert(typeof Pokemon);   // function</a:t>
            </a:r>
          </a:p>
        </p:txBody>
      </p:sp>
      <p:sp>
        <p:nvSpPr>
          <p:cNvPr id="179" name="const Person = class{}…"/>
          <p:cNvSpPr txBox="1"/>
          <p:nvPr/>
        </p:nvSpPr>
        <p:spPr>
          <a:xfrm>
            <a:off x="1474255" y="10821800"/>
            <a:ext cx="9330843" cy="219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lnSpc>
                <a:spcPct val="15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const Person = class{}</a:t>
            </a:r>
          </a:p>
          <a:p>
            <a:pPr algn="l">
              <a:lnSpc>
                <a:spcPct val="13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let myClass = class MyClass{field}</a:t>
            </a:r>
          </a:p>
        </p:txBody>
      </p:sp>
      <p:pic>
        <p:nvPicPr>
          <p:cNvPr id="186" name="Соединительная линия" descr="Соединительная линия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57649" y="6858572"/>
            <a:ext cx="1397051" cy="4599085"/>
          </a:xfrm>
          <a:prstGeom prst="rect">
            <a:avLst/>
          </a:prstGeom>
        </p:spPr>
      </p:pic>
      <p:sp>
        <p:nvSpPr>
          <p:cNvPr id="181" name="Свойства (поля) класса"/>
          <p:cNvSpPr txBox="1"/>
          <p:nvPr/>
        </p:nvSpPr>
        <p:spPr>
          <a:xfrm>
            <a:off x="1339295" y="9376513"/>
            <a:ext cx="682782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lvl1pPr>
          </a:lstStyle>
          <a:p>
            <a:pPr/>
            <a:r>
              <a:t>Свойства (поля) класса</a:t>
            </a:r>
          </a:p>
        </p:txBody>
      </p:sp>
      <p:pic>
        <p:nvPicPr>
          <p:cNvPr id="182" name="Линия Линия" descr="Линия Линия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140510">
            <a:off x="8360060" y="9670809"/>
            <a:ext cx="5845865" cy="457905"/>
          </a:xfrm>
          <a:prstGeom prst="rect">
            <a:avLst/>
          </a:prstGeom>
        </p:spPr>
      </p:pic>
      <p:sp>
        <p:nvSpPr>
          <p:cNvPr id="184" name="class User {…"/>
          <p:cNvSpPr txBox="1"/>
          <p:nvPr/>
        </p:nvSpPr>
        <p:spPr>
          <a:xfrm>
            <a:off x="19919132" y="9809227"/>
            <a:ext cx="3902589" cy="343408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User {</a:t>
            </a:r>
          </a:p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['say' + 'Hi']() {</a:t>
            </a:r>
          </a:p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alert("Привет");</a:t>
            </a:r>
          </a:p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algn="l">
              <a:lnSpc>
                <a:spcPct val="90000"/>
              </a:lnSpc>
              <a:defRPr sz="30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new User().sayHi();</a:t>
            </a:r>
          </a:p>
        </p:txBody>
      </p:sp>
      <p:pic>
        <p:nvPicPr>
          <p:cNvPr id="188" name="Соединительная линия" descr="Соединительная линия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352659" y="1490177"/>
            <a:ext cx="5859829" cy="82392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Линия Линия" descr="Линия Линия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0068825">
            <a:off x="6506928" y="3764899"/>
            <a:ext cx="9081253" cy="457905"/>
          </a:xfrm>
          <a:prstGeom prst="rect">
            <a:avLst/>
          </a:prstGeom>
        </p:spPr>
      </p:pic>
      <p:sp>
        <p:nvSpPr>
          <p:cNvPr id="193" name="Вызов"/>
          <p:cNvSpPr txBox="1"/>
          <p:nvPr>
            <p:ph type="title"/>
          </p:nvPr>
        </p:nvSpPr>
        <p:spPr>
          <a:xfrm>
            <a:off x="1206500" y="676654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Вызов</a:t>
            </a:r>
          </a:p>
        </p:txBody>
      </p:sp>
      <p:sp>
        <p:nvSpPr>
          <p:cNvPr id="194" name="let pokemon = new Pokemon(&quot;Marsik&quot;, &quot;Raichu&quot;, &quot;James&quot;, 2 );…"/>
          <p:cNvSpPr txBox="1"/>
          <p:nvPr>
            <p:ph type="body" idx="21"/>
          </p:nvPr>
        </p:nvSpPr>
        <p:spPr>
          <a:xfrm>
            <a:off x="1111712" y="2917988"/>
            <a:ext cx="13139040" cy="100135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2438338">
              <a:lnSpc>
                <a:spcPct val="90000"/>
              </a:lnSpc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let pokemon = new Pokemon("Marsik", "Raichu", "James", 2 );</a:t>
            </a:r>
          </a:p>
          <a:p>
            <a:pPr defTabSz="2438338">
              <a:lnSpc>
                <a:spcPct val="90000"/>
              </a:lnSpc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pokemon.call();</a:t>
            </a:r>
          </a:p>
          <a:p>
            <a:pPr defTabSz="2438338">
              <a:lnSpc>
                <a:spcPct val="90000"/>
              </a:lnSpc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2438338">
              <a:lnSpc>
                <a:spcPct val="90000"/>
              </a:lnSpc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pokemon.name = "Tom";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const user = new Person();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new myClass().field;  //Unknown - если там ничего не лежит</a:t>
            </a:r>
          </a:p>
          <a:p>
            <a:pPr defTabSz="2438338">
              <a:lnSpc>
                <a:spcPct val="90000"/>
              </a:lnSpc>
              <a:spcBef>
                <a:spcPts val="4500"/>
              </a:spcBef>
              <a:defRPr b="0" sz="48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new MyClass().field; // ошибка</a:t>
            </a:r>
          </a:p>
        </p:txBody>
      </p:sp>
      <p:sp>
        <p:nvSpPr>
          <p:cNvPr id="195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6" name="Определение объекта"/>
          <p:cNvSpPr txBox="1"/>
          <p:nvPr/>
        </p:nvSpPr>
        <p:spPr>
          <a:xfrm>
            <a:off x="16101970" y="6453784"/>
            <a:ext cx="647486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lvl1pPr>
          </a:lstStyle>
          <a:p>
            <a:pPr/>
            <a:r>
              <a:t>Определение объекта</a:t>
            </a:r>
          </a:p>
        </p:txBody>
      </p:sp>
      <p:pic>
        <p:nvPicPr>
          <p:cNvPr id="197" name="Линия Линия" descr="Линия Линия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0510853">
            <a:off x="9079615" y="7081073"/>
            <a:ext cx="6786283" cy="457905"/>
          </a:xfrm>
          <a:prstGeom prst="rect">
            <a:avLst/>
          </a:prstGeom>
        </p:spPr>
      </p:pic>
      <p:pic>
        <p:nvPicPr>
          <p:cNvPr id="199" name="Линия Линия" descr="Линия Линия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3500000">
            <a:off x="11722505" y="4736819"/>
            <a:ext cx="4629095" cy="457904"/>
          </a:xfrm>
          <a:prstGeom prst="rect">
            <a:avLst/>
          </a:prstGeom>
        </p:spPr>
      </p:pic>
      <p:pic>
        <p:nvPicPr>
          <p:cNvPr id="201" name="Линия Линия" descr="Линия Линия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 rot="8782675">
            <a:off x="13085195" y="7979439"/>
            <a:ext cx="3286480" cy="457905"/>
          </a:xfrm>
          <a:prstGeom prst="rect">
            <a:avLst/>
          </a:prstGeom>
        </p:spPr>
      </p:pic>
      <p:pic>
        <p:nvPicPr>
          <p:cNvPr id="211" name="Соединительная линия" descr="Соединительная линия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289135" y="7512392"/>
            <a:ext cx="8871173" cy="3880063"/>
          </a:xfrm>
          <a:prstGeom prst="rect">
            <a:avLst/>
          </a:prstGeom>
        </p:spPr>
      </p:pic>
      <p:sp>
        <p:nvSpPr>
          <p:cNvPr id="204" name="Изменение значения поля"/>
          <p:cNvSpPr txBox="1"/>
          <p:nvPr/>
        </p:nvSpPr>
        <p:spPr>
          <a:xfrm>
            <a:off x="15275197" y="3878477"/>
            <a:ext cx="762762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Изменение значения поля</a:t>
            </a:r>
          </a:p>
        </p:txBody>
      </p:sp>
      <p:pic>
        <p:nvPicPr>
          <p:cNvPr id="205" name="Линия Линия" descr="Линия Линия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9818521">
            <a:off x="8505927" y="5257699"/>
            <a:ext cx="6603839" cy="457905"/>
          </a:xfrm>
          <a:prstGeom prst="rect">
            <a:avLst/>
          </a:prstGeom>
        </p:spPr>
      </p:pic>
      <p:sp>
        <p:nvSpPr>
          <p:cNvPr id="207" name="Вызов метода объекта"/>
          <p:cNvSpPr txBox="1"/>
          <p:nvPr/>
        </p:nvSpPr>
        <p:spPr>
          <a:xfrm>
            <a:off x="15744894" y="2590824"/>
            <a:ext cx="668822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3"/>
                </a:solidFill>
              </a:defRPr>
            </a:lvl1pPr>
          </a:lstStyle>
          <a:p>
            <a:pPr/>
            <a:r>
              <a:t>Вызов метода объекта</a:t>
            </a:r>
          </a:p>
        </p:txBody>
      </p:sp>
      <p:sp>
        <p:nvSpPr>
          <p:cNvPr id="208" name="Вызов поля объекта"/>
          <p:cNvSpPr txBox="1"/>
          <p:nvPr/>
        </p:nvSpPr>
        <p:spPr>
          <a:xfrm>
            <a:off x="16938249" y="10316743"/>
            <a:ext cx="597804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5"/>
                </a:solidFill>
              </a:defRPr>
            </a:lvl1pPr>
          </a:lstStyle>
          <a:p>
            <a:pPr/>
            <a:r>
              <a:t>Вызов поля объекта</a:t>
            </a:r>
          </a:p>
        </p:txBody>
      </p:sp>
      <p:pic>
        <p:nvPicPr>
          <p:cNvPr id="213" name="Соединительная линия" descr="Соединительная линия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-19718" y="9379762"/>
            <a:ext cx="16930398" cy="3771033"/>
          </a:xfrm>
          <a:prstGeom prst="rect">
            <a:avLst/>
          </a:prstGeom>
        </p:spPr>
      </p:pic>
      <p:pic>
        <p:nvPicPr>
          <p:cNvPr id="215" name="Соединительная линия" descr="Соединительная линия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920037" y="11281530"/>
            <a:ext cx="15911644" cy="1812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lass User {…"/>
          <p:cNvSpPr txBox="1"/>
          <p:nvPr>
            <p:ph type="body" idx="21"/>
          </p:nvPr>
        </p:nvSpPr>
        <p:spPr>
          <a:xfrm>
            <a:off x="15108592" y="698243"/>
            <a:ext cx="8460496" cy="1270680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User {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constructor(name) {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// вызывает сеттер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this.name = name;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get name() {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return this._name;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set name(value) {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if (value.length &lt; 4) {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  alert("Имя слишком короткое.");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  return;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}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this._name = value;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let user = new User("Ронни");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alert(user.name); // Ронни</a:t>
            </a: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defTabSz="1682453">
              <a:lnSpc>
                <a:spcPct val="90000"/>
              </a:lnSpc>
              <a:defRPr b="0" sz="3312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user = new User(""); // Имя слишком короткое.</a:t>
            </a:r>
          </a:p>
        </p:txBody>
      </p:sp>
      <p:pic>
        <p:nvPicPr>
          <p:cNvPr id="219" name="Линия Линия" descr="Линия Линия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49448" y="3977439"/>
            <a:ext cx="2288461" cy="457905"/>
          </a:xfrm>
          <a:prstGeom prst="rect">
            <a:avLst/>
          </a:prstGeom>
        </p:spPr>
      </p:pic>
      <p:sp>
        <p:nvSpPr>
          <p:cNvPr id="221" name="Внутренние функции"/>
          <p:cNvSpPr txBox="1"/>
          <p:nvPr>
            <p:ph type="title"/>
          </p:nvPr>
        </p:nvSpPr>
        <p:spPr>
          <a:xfrm>
            <a:off x="2352828" y="56619"/>
            <a:ext cx="21971001" cy="14349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Внутренние функции</a:t>
            </a:r>
          </a:p>
        </p:txBody>
      </p:sp>
      <p:sp>
        <p:nvSpPr>
          <p:cNvPr id="222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3" name="Setter для изменения значения"/>
          <p:cNvSpPr txBox="1"/>
          <p:nvPr/>
        </p:nvSpPr>
        <p:spPr>
          <a:xfrm>
            <a:off x="2377502" y="5709541"/>
            <a:ext cx="900714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</a:defRPr>
            </a:lvl1pPr>
          </a:lstStyle>
          <a:p>
            <a:pPr/>
            <a:r>
              <a:t>Setter для изменения значения</a:t>
            </a:r>
          </a:p>
        </p:txBody>
      </p:sp>
      <p:pic>
        <p:nvPicPr>
          <p:cNvPr id="224" name="Линия Линия" descr="Линия Линия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20675455">
            <a:off x="10844366" y="7420071"/>
            <a:ext cx="4577942" cy="457905"/>
          </a:xfrm>
          <a:prstGeom prst="rect">
            <a:avLst/>
          </a:prstGeom>
        </p:spPr>
      </p:pic>
      <p:sp>
        <p:nvSpPr>
          <p:cNvPr id="226" name="Валидация значения"/>
          <p:cNvSpPr txBox="1"/>
          <p:nvPr/>
        </p:nvSpPr>
        <p:spPr>
          <a:xfrm>
            <a:off x="3853343" y="7780804"/>
            <a:ext cx="605546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1">
                    <a:lumOff val="16847"/>
                  </a:schemeClr>
                </a:solidFill>
              </a:defRPr>
            </a:lvl1pPr>
          </a:lstStyle>
          <a:p>
            <a:pPr/>
            <a:r>
              <a:t>Валидация значения</a:t>
            </a:r>
          </a:p>
        </p:txBody>
      </p:sp>
      <p:pic>
        <p:nvPicPr>
          <p:cNvPr id="227" name="Линия Линия" descr="Линия Линия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14249">
            <a:off x="11495674" y="6050263"/>
            <a:ext cx="3740264" cy="457904"/>
          </a:xfrm>
          <a:prstGeom prst="rect">
            <a:avLst/>
          </a:prstGeom>
        </p:spPr>
      </p:pic>
      <p:sp>
        <p:nvSpPr>
          <p:cNvPr id="229" name="Getter для возвращения значения"/>
          <p:cNvSpPr txBox="1"/>
          <p:nvPr/>
        </p:nvSpPr>
        <p:spPr>
          <a:xfrm>
            <a:off x="2322360" y="3701512"/>
            <a:ext cx="984534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3"/>
                </a:solidFill>
              </a:defRPr>
            </a:lvl1pPr>
          </a:lstStyle>
          <a:p>
            <a:pPr/>
            <a:r>
              <a:t>Getter для возвращения значения</a:t>
            </a:r>
          </a:p>
        </p:txBody>
      </p:sp>
      <p:sp>
        <p:nvSpPr>
          <p:cNvPr id="230" name="Применение"/>
          <p:cNvSpPr txBox="1"/>
          <p:nvPr/>
        </p:nvSpPr>
        <p:spPr>
          <a:xfrm>
            <a:off x="5402974" y="9620839"/>
            <a:ext cx="368411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chemeClr val="accent5"/>
                </a:solidFill>
              </a:defRPr>
            </a:lvl1pPr>
          </a:lstStyle>
          <a:p>
            <a:pPr/>
            <a:r>
              <a:t>Применение</a:t>
            </a:r>
          </a:p>
        </p:txBody>
      </p:sp>
      <p:pic>
        <p:nvPicPr>
          <p:cNvPr id="234" name="Соединительная линия" descr="Соединительная линия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418364" y="10115910"/>
            <a:ext cx="5409034" cy="1852011"/>
          </a:xfrm>
          <a:prstGeom prst="rect">
            <a:avLst/>
          </a:prstGeom>
        </p:spPr>
      </p:pic>
      <p:sp>
        <p:nvSpPr>
          <p:cNvPr id="232" name="this - ключевое слово для вывода элемента текущего объекта класса"/>
          <p:cNvSpPr txBox="1"/>
          <p:nvPr/>
        </p:nvSpPr>
        <p:spPr>
          <a:xfrm>
            <a:off x="511506" y="11460875"/>
            <a:ext cx="10522975" cy="1694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90000"/>
              </a:lnSpc>
              <a:defRPr i="1"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this - ключевое слово для вывода элемента текущего объекта класса</a:t>
            </a:r>
          </a:p>
        </p:txBody>
      </p:sp>
      <p:sp>
        <p:nvSpPr>
          <p:cNvPr id="233" name="console.log(tom.constructor);"/>
          <p:cNvSpPr txBox="1"/>
          <p:nvPr/>
        </p:nvSpPr>
        <p:spPr>
          <a:xfrm>
            <a:off x="487869" y="2126640"/>
            <a:ext cx="833109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console.log(tom.constructor);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Наследование классов – это способ расширения одного класса другим классом.…"/>
          <p:cNvSpPr txBox="1"/>
          <p:nvPr>
            <p:ph type="body" idx="21"/>
          </p:nvPr>
        </p:nvSpPr>
        <p:spPr>
          <a:xfrm>
            <a:off x="15108592" y="698243"/>
            <a:ext cx="8460496" cy="938823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609600" indent="-609600" defTabSz="2438338">
              <a:lnSpc>
                <a:spcPct val="90000"/>
              </a:lnSpc>
              <a:buSzPct val="40000"/>
              <a:buBlip>
                <a:blip r:embed="rId3"/>
              </a:buBlip>
              <a:defRPr b="0" sz="4800"/>
            </a:pPr>
            <a:r>
              <a:t>Наследование классов – это способ расширения одного класса другим классом.</a:t>
            </a:r>
          </a:p>
          <a:p>
            <a:pPr marL="609600" indent="-609600" defTabSz="2438338">
              <a:lnSpc>
                <a:spcPct val="90000"/>
              </a:lnSpc>
              <a:buSzPct val="40000"/>
              <a:buBlip>
                <a:blip r:embed="rId3"/>
              </a:buBlip>
              <a:defRPr b="0" sz="4800"/>
            </a:pPr>
          </a:p>
          <a:p>
            <a:pPr marL="609600" indent="-609600" defTabSz="2438338">
              <a:lnSpc>
                <a:spcPct val="90000"/>
              </a:lnSpc>
              <a:spcBef>
                <a:spcPts val="4500"/>
              </a:spcBef>
              <a:buSzPct val="40000"/>
              <a:buBlip>
                <a:blip r:embed="rId3"/>
              </a:buBlip>
              <a:defRPr b="0" sz="4800"/>
            </a:pPr>
            <a:r>
              <a:t>Синтаксис наследования: </a:t>
            </a:r>
            <a:r>
              <a:rPr>
                <a:latin typeface="Avenir Next Regular"/>
                <a:ea typeface="Avenir Next Regular"/>
                <a:cs typeface="Avenir Next Regular"/>
                <a:sym typeface="Avenir Next Regular"/>
              </a:rPr>
              <a:t>class Child extends Parent. </a:t>
            </a:r>
            <a:r>
              <a:t>Синтаксис создания класса допускает указывать после extends не только класс, но и любое выражение.</a:t>
            </a:r>
          </a:p>
        </p:txBody>
      </p:sp>
      <p:sp>
        <p:nvSpPr>
          <p:cNvPr id="238" name="Наследование"/>
          <p:cNvSpPr txBox="1"/>
          <p:nvPr>
            <p:ph type="title"/>
          </p:nvPr>
        </p:nvSpPr>
        <p:spPr>
          <a:xfrm>
            <a:off x="1206500" y="676654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Наследование</a:t>
            </a:r>
          </a:p>
        </p:txBody>
      </p:sp>
      <p:sp>
        <p:nvSpPr>
          <p:cNvPr id="239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0" name="class Pikachu extends Pokemon {…"/>
          <p:cNvSpPr txBox="1"/>
          <p:nvPr/>
        </p:nvSpPr>
        <p:spPr>
          <a:xfrm>
            <a:off x="683914" y="3094208"/>
            <a:ext cx="15654746" cy="848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Pikachu extends Pokemon {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attack() {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alert(`${this.name} швыряет молнию!`);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let pikachu = new Pikachu("Марсик", "Райчу", "Джеймс", 2);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pikachu.call(); // Джеймс вызывает Марсик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pikachu.attack(); // Марсик швыряет молнию!</a:t>
            </a:r>
          </a:p>
        </p:txBody>
      </p:sp>
      <p:pic>
        <p:nvPicPr>
          <p:cNvPr id="241" name="Изображение" descr="Изображение"/>
          <p:cNvPicPr>
            <a:picLocks noChangeAspect="1"/>
          </p:cNvPicPr>
          <p:nvPr/>
        </p:nvPicPr>
        <p:blipFill>
          <a:blip r:embed="rId4">
            <a:extLst/>
          </a:blip>
          <a:srcRect l="11876" t="16175" r="9487" b="15293"/>
          <a:stretch>
            <a:fillRect/>
          </a:stretch>
        </p:blipFill>
        <p:spPr>
          <a:xfrm>
            <a:off x="16428587" y="9374814"/>
            <a:ext cx="5481446" cy="41666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9" h="21544" fill="norm" stroke="1" extrusionOk="0">
                <a:moveTo>
                  <a:pt x="9445" y="0"/>
                </a:moveTo>
                <a:cubicBezTo>
                  <a:pt x="9415" y="-1"/>
                  <a:pt x="9380" y="5"/>
                  <a:pt x="9339" y="18"/>
                </a:cubicBezTo>
                <a:cubicBezTo>
                  <a:pt x="9222" y="56"/>
                  <a:pt x="9076" y="138"/>
                  <a:pt x="9017" y="199"/>
                </a:cubicBezTo>
                <a:cubicBezTo>
                  <a:pt x="8950" y="268"/>
                  <a:pt x="8883" y="253"/>
                  <a:pt x="8839" y="160"/>
                </a:cubicBezTo>
                <a:cubicBezTo>
                  <a:pt x="8791" y="57"/>
                  <a:pt x="8745" y="98"/>
                  <a:pt x="8692" y="289"/>
                </a:cubicBezTo>
                <a:cubicBezTo>
                  <a:pt x="8638" y="480"/>
                  <a:pt x="8567" y="543"/>
                  <a:pt x="8463" y="490"/>
                </a:cubicBezTo>
                <a:cubicBezTo>
                  <a:pt x="8336" y="426"/>
                  <a:pt x="8331" y="444"/>
                  <a:pt x="8428" y="599"/>
                </a:cubicBezTo>
                <a:cubicBezTo>
                  <a:pt x="8643" y="941"/>
                  <a:pt x="8056" y="1141"/>
                  <a:pt x="6939" y="1104"/>
                </a:cubicBezTo>
                <a:cubicBezTo>
                  <a:pt x="5907" y="1070"/>
                  <a:pt x="5742" y="1014"/>
                  <a:pt x="5742" y="704"/>
                </a:cubicBezTo>
                <a:cubicBezTo>
                  <a:pt x="5742" y="567"/>
                  <a:pt x="5678" y="530"/>
                  <a:pt x="5511" y="572"/>
                </a:cubicBezTo>
                <a:cubicBezTo>
                  <a:pt x="5361" y="610"/>
                  <a:pt x="5177" y="529"/>
                  <a:pt x="4984" y="340"/>
                </a:cubicBezTo>
                <a:cubicBezTo>
                  <a:pt x="4642" y="7"/>
                  <a:pt x="4493" y="-28"/>
                  <a:pt x="4571" y="240"/>
                </a:cubicBezTo>
                <a:cubicBezTo>
                  <a:pt x="4608" y="365"/>
                  <a:pt x="4550" y="465"/>
                  <a:pt x="4397" y="542"/>
                </a:cubicBezTo>
                <a:cubicBezTo>
                  <a:pt x="4138" y="671"/>
                  <a:pt x="4121" y="785"/>
                  <a:pt x="4274" y="1344"/>
                </a:cubicBezTo>
                <a:cubicBezTo>
                  <a:pt x="4335" y="1567"/>
                  <a:pt x="4349" y="1833"/>
                  <a:pt x="4307" y="1964"/>
                </a:cubicBezTo>
                <a:cubicBezTo>
                  <a:pt x="4213" y="2251"/>
                  <a:pt x="4211" y="2499"/>
                  <a:pt x="4302" y="2776"/>
                </a:cubicBezTo>
                <a:cubicBezTo>
                  <a:pt x="4341" y="2895"/>
                  <a:pt x="4334" y="3058"/>
                  <a:pt x="4286" y="3142"/>
                </a:cubicBezTo>
                <a:cubicBezTo>
                  <a:pt x="4188" y="3316"/>
                  <a:pt x="4193" y="5194"/>
                  <a:pt x="4293" y="5407"/>
                </a:cubicBezTo>
                <a:cubicBezTo>
                  <a:pt x="4329" y="5485"/>
                  <a:pt x="4293" y="5718"/>
                  <a:pt x="4213" y="5922"/>
                </a:cubicBezTo>
                <a:cubicBezTo>
                  <a:pt x="4072" y="6282"/>
                  <a:pt x="4075" y="6297"/>
                  <a:pt x="4290" y="6404"/>
                </a:cubicBezTo>
                <a:cubicBezTo>
                  <a:pt x="4478" y="6499"/>
                  <a:pt x="4510" y="6593"/>
                  <a:pt x="4501" y="7045"/>
                </a:cubicBezTo>
                <a:cubicBezTo>
                  <a:pt x="4493" y="7479"/>
                  <a:pt x="4461" y="7569"/>
                  <a:pt x="4327" y="7539"/>
                </a:cubicBezTo>
                <a:cubicBezTo>
                  <a:pt x="4237" y="7519"/>
                  <a:pt x="4175" y="7566"/>
                  <a:pt x="4188" y="7644"/>
                </a:cubicBezTo>
                <a:cubicBezTo>
                  <a:pt x="4220" y="7827"/>
                  <a:pt x="3521" y="8157"/>
                  <a:pt x="3335" y="8046"/>
                </a:cubicBezTo>
                <a:cubicBezTo>
                  <a:pt x="3257" y="7999"/>
                  <a:pt x="3096" y="7946"/>
                  <a:pt x="2977" y="7927"/>
                </a:cubicBezTo>
                <a:cubicBezTo>
                  <a:pt x="2805" y="7900"/>
                  <a:pt x="2783" y="7928"/>
                  <a:pt x="2867" y="8061"/>
                </a:cubicBezTo>
                <a:cubicBezTo>
                  <a:pt x="3026" y="8314"/>
                  <a:pt x="2852" y="8391"/>
                  <a:pt x="2123" y="8391"/>
                </a:cubicBezTo>
                <a:cubicBezTo>
                  <a:pt x="1582" y="8391"/>
                  <a:pt x="1461" y="8429"/>
                  <a:pt x="1382" y="8625"/>
                </a:cubicBezTo>
                <a:cubicBezTo>
                  <a:pt x="1303" y="8819"/>
                  <a:pt x="1218" y="8848"/>
                  <a:pt x="873" y="8793"/>
                </a:cubicBezTo>
                <a:cubicBezTo>
                  <a:pt x="503" y="8735"/>
                  <a:pt x="432" y="8764"/>
                  <a:pt x="230" y="9068"/>
                </a:cubicBezTo>
                <a:cubicBezTo>
                  <a:pt x="105" y="9256"/>
                  <a:pt x="1" y="9445"/>
                  <a:pt x="0" y="9487"/>
                </a:cubicBezTo>
                <a:cubicBezTo>
                  <a:pt x="-2" y="9528"/>
                  <a:pt x="220" y="9546"/>
                  <a:pt x="493" y="9528"/>
                </a:cubicBezTo>
                <a:cubicBezTo>
                  <a:pt x="1141" y="9484"/>
                  <a:pt x="1616" y="9618"/>
                  <a:pt x="1623" y="9844"/>
                </a:cubicBezTo>
                <a:cubicBezTo>
                  <a:pt x="1631" y="10087"/>
                  <a:pt x="1478" y="10341"/>
                  <a:pt x="1374" y="10256"/>
                </a:cubicBezTo>
                <a:cubicBezTo>
                  <a:pt x="1328" y="10218"/>
                  <a:pt x="1301" y="10253"/>
                  <a:pt x="1315" y="10334"/>
                </a:cubicBezTo>
                <a:cubicBezTo>
                  <a:pt x="1341" y="10484"/>
                  <a:pt x="856" y="10730"/>
                  <a:pt x="733" y="10630"/>
                </a:cubicBezTo>
                <a:cubicBezTo>
                  <a:pt x="696" y="10600"/>
                  <a:pt x="644" y="10685"/>
                  <a:pt x="618" y="10819"/>
                </a:cubicBezTo>
                <a:cubicBezTo>
                  <a:pt x="591" y="10952"/>
                  <a:pt x="508" y="11061"/>
                  <a:pt x="434" y="11061"/>
                </a:cubicBezTo>
                <a:cubicBezTo>
                  <a:pt x="306" y="11061"/>
                  <a:pt x="297" y="11296"/>
                  <a:pt x="384" y="12249"/>
                </a:cubicBezTo>
                <a:cubicBezTo>
                  <a:pt x="393" y="12347"/>
                  <a:pt x="525" y="12383"/>
                  <a:pt x="772" y="12351"/>
                </a:cubicBezTo>
                <a:cubicBezTo>
                  <a:pt x="1169" y="12301"/>
                  <a:pt x="1521" y="12464"/>
                  <a:pt x="1430" y="12657"/>
                </a:cubicBezTo>
                <a:cubicBezTo>
                  <a:pt x="1400" y="12721"/>
                  <a:pt x="1444" y="12774"/>
                  <a:pt x="1528" y="12774"/>
                </a:cubicBezTo>
                <a:cubicBezTo>
                  <a:pt x="1612" y="12774"/>
                  <a:pt x="1704" y="12884"/>
                  <a:pt x="1731" y="13018"/>
                </a:cubicBezTo>
                <a:cubicBezTo>
                  <a:pt x="1757" y="13153"/>
                  <a:pt x="1829" y="13263"/>
                  <a:pt x="1889" y="13263"/>
                </a:cubicBezTo>
                <a:cubicBezTo>
                  <a:pt x="1950" y="13263"/>
                  <a:pt x="2081" y="13346"/>
                  <a:pt x="2180" y="13447"/>
                </a:cubicBezTo>
                <a:cubicBezTo>
                  <a:pt x="2355" y="13625"/>
                  <a:pt x="2354" y="13635"/>
                  <a:pt x="2188" y="13804"/>
                </a:cubicBezTo>
                <a:cubicBezTo>
                  <a:pt x="2094" y="13901"/>
                  <a:pt x="1959" y="13951"/>
                  <a:pt x="1888" y="13915"/>
                </a:cubicBezTo>
                <a:cubicBezTo>
                  <a:pt x="1698" y="13819"/>
                  <a:pt x="1717" y="14483"/>
                  <a:pt x="1910" y="14668"/>
                </a:cubicBezTo>
                <a:cubicBezTo>
                  <a:pt x="2048" y="14802"/>
                  <a:pt x="2131" y="15609"/>
                  <a:pt x="2135" y="16866"/>
                </a:cubicBezTo>
                <a:cubicBezTo>
                  <a:pt x="2136" y="16998"/>
                  <a:pt x="2179" y="17172"/>
                  <a:pt x="2230" y="17254"/>
                </a:cubicBezTo>
                <a:cubicBezTo>
                  <a:pt x="2296" y="17359"/>
                  <a:pt x="2275" y="17438"/>
                  <a:pt x="2157" y="17525"/>
                </a:cubicBezTo>
                <a:cubicBezTo>
                  <a:pt x="1920" y="17700"/>
                  <a:pt x="2005" y="17752"/>
                  <a:pt x="2663" y="17831"/>
                </a:cubicBezTo>
                <a:cubicBezTo>
                  <a:pt x="3294" y="17906"/>
                  <a:pt x="3459" y="17985"/>
                  <a:pt x="3373" y="18169"/>
                </a:cubicBezTo>
                <a:cubicBezTo>
                  <a:pt x="3339" y="18241"/>
                  <a:pt x="3409" y="18258"/>
                  <a:pt x="3549" y="18212"/>
                </a:cubicBezTo>
                <a:cubicBezTo>
                  <a:pt x="3820" y="18122"/>
                  <a:pt x="4167" y="18332"/>
                  <a:pt x="4167" y="18588"/>
                </a:cubicBezTo>
                <a:cubicBezTo>
                  <a:pt x="4167" y="18803"/>
                  <a:pt x="4365" y="18823"/>
                  <a:pt x="4517" y="18623"/>
                </a:cubicBezTo>
                <a:cubicBezTo>
                  <a:pt x="4597" y="18516"/>
                  <a:pt x="4682" y="18514"/>
                  <a:pt x="4837" y="18612"/>
                </a:cubicBezTo>
                <a:cubicBezTo>
                  <a:pt x="4953" y="18686"/>
                  <a:pt x="5120" y="18776"/>
                  <a:pt x="5209" y="18814"/>
                </a:cubicBezTo>
                <a:cubicBezTo>
                  <a:pt x="5299" y="18851"/>
                  <a:pt x="5363" y="18953"/>
                  <a:pt x="5350" y="19037"/>
                </a:cubicBezTo>
                <a:cubicBezTo>
                  <a:pt x="5336" y="19122"/>
                  <a:pt x="5429" y="19209"/>
                  <a:pt x="5557" y="19232"/>
                </a:cubicBezTo>
                <a:cubicBezTo>
                  <a:pt x="5684" y="19255"/>
                  <a:pt x="5835" y="19352"/>
                  <a:pt x="5891" y="19448"/>
                </a:cubicBezTo>
                <a:cubicBezTo>
                  <a:pt x="5984" y="19606"/>
                  <a:pt x="6489" y="19717"/>
                  <a:pt x="6715" y="19630"/>
                </a:cubicBezTo>
                <a:cubicBezTo>
                  <a:pt x="6984" y="19526"/>
                  <a:pt x="7239" y="19650"/>
                  <a:pt x="7336" y="19932"/>
                </a:cubicBezTo>
                <a:cubicBezTo>
                  <a:pt x="7409" y="20144"/>
                  <a:pt x="7492" y="20219"/>
                  <a:pt x="7604" y="20172"/>
                </a:cubicBezTo>
                <a:cubicBezTo>
                  <a:pt x="7703" y="20130"/>
                  <a:pt x="7815" y="20198"/>
                  <a:pt x="7895" y="20348"/>
                </a:cubicBezTo>
                <a:cubicBezTo>
                  <a:pt x="8003" y="20552"/>
                  <a:pt x="8125" y="20591"/>
                  <a:pt x="8622" y="20582"/>
                </a:cubicBezTo>
                <a:cubicBezTo>
                  <a:pt x="9203" y="20573"/>
                  <a:pt x="9741" y="20746"/>
                  <a:pt x="9717" y="20935"/>
                </a:cubicBezTo>
                <a:cubicBezTo>
                  <a:pt x="9711" y="20987"/>
                  <a:pt x="9710" y="21132"/>
                  <a:pt x="9716" y="21258"/>
                </a:cubicBezTo>
                <a:cubicBezTo>
                  <a:pt x="9726" y="21465"/>
                  <a:pt x="9743" y="21460"/>
                  <a:pt x="9896" y="21210"/>
                </a:cubicBezTo>
                <a:cubicBezTo>
                  <a:pt x="10040" y="20977"/>
                  <a:pt x="10095" y="20957"/>
                  <a:pt x="10267" y="21079"/>
                </a:cubicBezTo>
                <a:cubicBezTo>
                  <a:pt x="10378" y="21158"/>
                  <a:pt x="10469" y="21303"/>
                  <a:pt x="10469" y="21403"/>
                </a:cubicBezTo>
                <a:cubicBezTo>
                  <a:pt x="10469" y="21548"/>
                  <a:pt x="10557" y="21572"/>
                  <a:pt x="10908" y="21516"/>
                </a:cubicBezTo>
                <a:cubicBezTo>
                  <a:pt x="11150" y="21478"/>
                  <a:pt x="11500" y="21451"/>
                  <a:pt x="11685" y="21457"/>
                </a:cubicBezTo>
                <a:cubicBezTo>
                  <a:pt x="11907" y="21464"/>
                  <a:pt x="12041" y="21404"/>
                  <a:pt x="12077" y="21280"/>
                </a:cubicBezTo>
                <a:cubicBezTo>
                  <a:pt x="12107" y="21177"/>
                  <a:pt x="12200" y="21091"/>
                  <a:pt x="12284" y="21091"/>
                </a:cubicBezTo>
                <a:cubicBezTo>
                  <a:pt x="12392" y="21091"/>
                  <a:pt x="12423" y="21018"/>
                  <a:pt x="12388" y="20845"/>
                </a:cubicBezTo>
                <a:cubicBezTo>
                  <a:pt x="12328" y="20541"/>
                  <a:pt x="12651" y="20256"/>
                  <a:pt x="12813" y="20470"/>
                </a:cubicBezTo>
                <a:cubicBezTo>
                  <a:pt x="12977" y="20685"/>
                  <a:pt x="13360" y="20622"/>
                  <a:pt x="13584" y="20344"/>
                </a:cubicBezTo>
                <a:cubicBezTo>
                  <a:pt x="13805" y="20071"/>
                  <a:pt x="13990" y="20120"/>
                  <a:pt x="13990" y="20451"/>
                </a:cubicBezTo>
                <a:cubicBezTo>
                  <a:pt x="13990" y="20608"/>
                  <a:pt x="14015" y="20619"/>
                  <a:pt x="14102" y="20504"/>
                </a:cubicBezTo>
                <a:cubicBezTo>
                  <a:pt x="14164" y="20423"/>
                  <a:pt x="14215" y="20206"/>
                  <a:pt x="14217" y="20022"/>
                </a:cubicBezTo>
                <a:cubicBezTo>
                  <a:pt x="14222" y="19695"/>
                  <a:pt x="14235" y="19689"/>
                  <a:pt x="14789" y="19686"/>
                </a:cubicBezTo>
                <a:cubicBezTo>
                  <a:pt x="15134" y="19684"/>
                  <a:pt x="15416" y="19615"/>
                  <a:pt x="15511" y="19511"/>
                </a:cubicBezTo>
                <a:cubicBezTo>
                  <a:pt x="15629" y="19382"/>
                  <a:pt x="15693" y="19375"/>
                  <a:pt x="15774" y="19482"/>
                </a:cubicBezTo>
                <a:cubicBezTo>
                  <a:pt x="15833" y="19560"/>
                  <a:pt x="15956" y="19624"/>
                  <a:pt x="16048" y="19624"/>
                </a:cubicBezTo>
                <a:cubicBezTo>
                  <a:pt x="16237" y="19624"/>
                  <a:pt x="16274" y="19262"/>
                  <a:pt x="16107" y="19041"/>
                </a:cubicBezTo>
                <a:cubicBezTo>
                  <a:pt x="15963" y="18851"/>
                  <a:pt x="16361" y="18647"/>
                  <a:pt x="16705" y="18733"/>
                </a:cubicBezTo>
                <a:cubicBezTo>
                  <a:pt x="17044" y="18819"/>
                  <a:pt x="17419" y="18678"/>
                  <a:pt x="17419" y="18467"/>
                </a:cubicBezTo>
                <a:cubicBezTo>
                  <a:pt x="17419" y="18224"/>
                  <a:pt x="17591" y="18110"/>
                  <a:pt x="17729" y="18261"/>
                </a:cubicBezTo>
                <a:cubicBezTo>
                  <a:pt x="17809" y="18349"/>
                  <a:pt x="17913" y="18340"/>
                  <a:pt x="18072" y="18233"/>
                </a:cubicBezTo>
                <a:cubicBezTo>
                  <a:pt x="18237" y="18121"/>
                  <a:pt x="18348" y="18116"/>
                  <a:pt x="18475" y="18210"/>
                </a:cubicBezTo>
                <a:cubicBezTo>
                  <a:pt x="18605" y="18308"/>
                  <a:pt x="18660" y="18300"/>
                  <a:pt x="18693" y="18179"/>
                </a:cubicBezTo>
                <a:cubicBezTo>
                  <a:pt x="18717" y="18091"/>
                  <a:pt x="18837" y="17967"/>
                  <a:pt x="18962" y="17904"/>
                </a:cubicBezTo>
                <a:cubicBezTo>
                  <a:pt x="19098" y="17836"/>
                  <a:pt x="19178" y="17710"/>
                  <a:pt x="19161" y="17588"/>
                </a:cubicBezTo>
                <a:cubicBezTo>
                  <a:pt x="19120" y="17285"/>
                  <a:pt x="19370" y="17232"/>
                  <a:pt x="19429" y="17531"/>
                </a:cubicBezTo>
                <a:cubicBezTo>
                  <a:pt x="19457" y="17673"/>
                  <a:pt x="19516" y="17790"/>
                  <a:pt x="19561" y="17790"/>
                </a:cubicBezTo>
                <a:cubicBezTo>
                  <a:pt x="19679" y="17790"/>
                  <a:pt x="19666" y="12685"/>
                  <a:pt x="19549" y="12589"/>
                </a:cubicBezTo>
                <a:cubicBezTo>
                  <a:pt x="19361" y="12437"/>
                  <a:pt x="19571" y="12284"/>
                  <a:pt x="19967" y="12284"/>
                </a:cubicBezTo>
                <a:cubicBezTo>
                  <a:pt x="20291" y="12284"/>
                  <a:pt x="20385" y="12236"/>
                  <a:pt x="20431" y="12042"/>
                </a:cubicBezTo>
                <a:cubicBezTo>
                  <a:pt x="20464" y="11908"/>
                  <a:pt x="20466" y="11746"/>
                  <a:pt x="20436" y="11682"/>
                </a:cubicBezTo>
                <a:cubicBezTo>
                  <a:pt x="20352" y="11504"/>
                  <a:pt x="20578" y="11378"/>
                  <a:pt x="20929" y="11410"/>
                </a:cubicBezTo>
                <a:cubicBezTo>
                  <a:pt x="21205" y="11434"/>
                  <a:pt x="21233" y="11414"/>
                  <a:pt x="21132" y="11254"/>
                </a:cubicBezTo>
                <a:cubicBezTo>
                  <a:pt x="21034" y="11098"/>
                  <a:pt x="21054" y="11045"/>
                  <a:pt x="21256" y="10923"/>
                </a:cubicBezTo>
                <a:cubicBezTo>
                  <a:pt x="21514" y="10768"/>
                  <a:pt x="21598" y="10496"/>
                  <a:pt x="21350" y="10622"/>
                </a:cubicBezTo>
                <a:cubicBezTo>
                  <a:pt x="21250" y="10672"/>
                  <a:pt x="21186" y="10612"/>
                  <a:pt x="21152" y="10443"/>
                </a:cubicBezTo>
                <a:cubicBezTo>
                  <a:pt x="21122" y="10290"/>
                  <a:pt x="21052" y="10216"/>
                  <a:pt x="20973" y="10256"/>
                </a:cubicBezTo>
                <a:cubicBezTo>
                  <a:pt x="20893" y="10297"/>
                  <a:pt x="20809" y="10205"/>
                  <a:pt x="20754" y="10012"/>
                </a:cubicBezTo>
                <a:cubicBezTo>
                  <a:pt x="20697" y="9817"/>
                  <a:pt x="20603" y="9712"/>
                  <a:pt x="20501" y="9733"/>
                </a:cubicBezTo>
                <a:cubicBezTo>
                  <a:pt x="20298" y="9774"/>
                  <a:pt x="19899" y="9494"/>
                  <a:pt x="19964" y="9355"/>
                </a:cubicBezTo>
                <a:cubicBezTo>
                  <a:pt x="20015" y="9248"/>
                  <a:pt x="19749" y="9047"/>
                  <a:pt x="19611" y="9089"/>
                </a:cubicBezTo>
                <a:cubicBezTo>
                  <a:pt x="19434" y="9141"/>
                  <a:pt x="19277" y="8836"/>
                  <a:pt x="19367" y="8615"/>
                </a:cubicBezTo>
                <a:cubicBezTo>
                  <a:pt x="19471" y="8358"/>
                  <a:pt x="19289" y="8205"/>
                  <a:pt x="19082" y="8374"/>
                </a:cubicBezTo>
                <a:cubicBezTo>
                  <a:pt x="18961" y="8473"/>
                  <a:pt x="17798" y="8416"/>
                  <a:pt x="17525" y="8299"/>
                </a:cubicBezTo>
                <a:cubicBezTo>
                  <a:pt x="17424" y="8255"/>
                  <a:pt x="17421" y="8208"/>
                  <a:pt x="17513" y="8063"/>
                </a:cubicBezTo>
                <a:cubicBezTo>
                  <a:pt x="17608" y="7911"/>
                  <a:pt x="17594" y="7882"/>
                  <a:pt x="17430" y="7882"/>
                </a:cubicBezTo>
                <a:cubicBezTo>
                  <a:pt x="17322" y="7882"/>
                  <a:pt x="17245" y="7950"/>
                  <a:pt x="17257" y="8034"/>
                </a:cubicBezTo>
                <a:cubicBezTo>
                  <a:pt x="17272" y="8133"/>
                  <a:pt x="17166" y="8188"/>
                  <a:pt x="16955" y="8188"/>
                </a:cubicBezTo>
                <a:cubicBezTo>
                  <a:pt x="16728" y="8188"/>
                  <a:pt x="16640" y="8136"/>
                  <a:pt x="16660" y="8017"/>
                </a:cubicBezTo>
                <a:cubicBezTo>
                  <a:pt x="16681" y="7886"/>
                  <a:pt x="16593" y="7862"/>
                  <a:pt x="16264" y="7911"/>
                </a:cubicBezTo>
                <a:cubicBezTo>
                  <a:pt x="15853" y="7972"/>
                  <a:pt x="15643" y="7860"/>
                  <a:pt x="15850" y="7691"/>
                </a:cubicBezTo>
                <a:cubicBezTo>
                  <a:pt x="15953" y="7607"/>
                  <a:pt x="15311" y="6815"/>
                  <a:pt x="15184" y="6868"/>
                </a:cubicBezTo>
                <a:cubicBezTo>
                  <a:pt x="15083" y="6911"/>
                  <a:pt x="14924" y="6602"/>
                  <a:pt x="14888" y="6292"/>
                </a:cubicBezTo>
                <a:cubicBezTo>
                  <a:pt x="14857" y="6024"/>
                  <a:pt x="14766" y="5957"/>
                  <a:pt x="14333" y="5877"/>
                </a:cubicBezTo>
                <a:cubicBezTo>
                  <a:pt x="14241" y="5860"/>
                  <a:pt x="14089" y="5679"/>
                  <a:pt x="13995" y="5475"/>
                </a:cubicBezTo>
                <a:cubicBezTo>
                  <a:pt x="13839" y="5137"/>
                  <a:pt x="13788" y="5106"/>
                  <a:pt x="13434" y="5153"/>
                </a:cubicBezTo>
                <a:cubicBezTo>
                  <a:pt x="13148" y="5190"/>
                  <a:pt x="12995" y="5145"/>
                  <a:pt x="12859" y="4982"/>
                </a:cubicBezTo>
                <a:cubicBezTo>
                  <a:pt x="12730" y="4829"/>
                  <a:pt x="12525" y="4763"/>
                  <a:pt x="12195" y="4763"/>
                </a:cubicBezTo>
                <a:cubicBezTo>
                  <a:pt x="11784" y="4763"/>
                  <a:pt x="11716" y="4728"/>
                  <a:pt x="11693" y="4508"/>
                </a:cubicBezTo>
                <a:cubicBezTo>
                  <a:pt x="11669" y="4292"/>
                  <a:pt x="11596" y="4251"/>
                  <a:pt x="11205" y="4239"/>
                </a:cubicBezTo>
                <a:cubicBezTo>
                  <a:pt x="10674" y="4224"/>
                  <a:pt x="10550" y="4151"/>
                  <a:pt x="10622" y="3903"/>
                </a:cubicBezTo>
                <a:cubicBezTo>
                  <a:pt x="10655" y="3789"/>
                  <a:pt x="10587" y="3683"/>
                  <a:pt x="10432" y="3605"/>
                </a:cubicBezTo>
                <a:cubicBezTo>
                  <a:pt x="10167" y="3473"/>
                  <a:pt x="10134" y="3356"/>
                  <a:pt x="10298" y="3140"/>
                </a:cubicBezTo>
                <a:cubicBezTo>
                  <a:pt x="10380" y="3031"/>
                  <a:pt x="10350" y="2970"/>
                  <a:pt x="10173" y="2881"/>
                </a:cubicBezTo>
                <a:cubicBezTo>
                  <a:pt x="9947" y="2768"/>
                  <a:pt x="9943" y="2736"/>
                  <a:pt x="9968" y="1707"/>
                </a:cubicBezTo>
                <a:cubicBezTo>
                  <a:pt x="9988" y="856"/>
                  <a:pt x="9965" y="636"/>
                  <a:pt x="9853" y="579"/>
                </a:cubicBezTo>
                <a:cubicBezTo>
                  <a:pt x="9776" y="540"/>
                  <a:pt x="9678" y="383"/>
                  <a:pt x="9633" y="230"/>
                </a:cubicBezTo>
                <a:cubicBezTo>
                  <a:pt x="9587" y="69"/>
                  <a:pt x="9536" y="1"/>
                  <a:pt x="9445" y="0"/>
                </a:cubicBezTo>
                <a:close/>
                <a:moveTo>
                  <a:pt x="16864" y="19380"/>
                </a:moveTo>
                <a:cubicBezTo>
                  <a:pt x="16813" y="19380"/>
                  <a:pt x="16770" y="19434"/>
                  <a:pt x="16770" y="19501"/>
                </a:cubicBezTo>
                <a:cubicBezTo>
                  <a:pt x="16770" y="19568"/>
                  <a:pt x="16813" y="19624"/>
                  <a:pt x="16864" y="19624"/>
                </a:cubicBezTo>
                <a:cubicBezTo>
                  <a:pt x="16915" y="19624"/>
                  <a:pt x="16955" y="19568"/>
                  <a:pt x="16955" y="19501"/>
                </a:cubicBezTo>
                <a:cubicBezTo>
                  <a:pt x="16955" y="19434"/>
                  <a:pt x="16915" y="19380"/>
                  <a:pt x="16864" y="1938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Конструкторы в наследуемых классах должны обязательно вызывать super(...), и (!) делать это перед использованием this…"/>
          <p:cNvSpPr txBox="1"/>
          <p:nvPr>
            <p:ph type="body" idx="21"/>
          </p:nvPr>
        </p:nvSpPr>
        <p:spPr>
          <a:xfrm>
            <a:off x="14373992" y="3005764"/>
            <a:ext cx="9760302" cy="95135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591312" indent="-591312" defTabSz="2365188">
              <a:lnSpc>
                <a:spcPct val="90000"/>
              </a:lnSpc>
              <a:spcBef>
                <a:spcPts val="4300"/>
              </a:spcBef>
              <a:buSzPct val="40000"/>
              <a:buBlip>
                <a:blip r:embed="rId3"/>
              </a:buBlip>
              <a:defRPr b="0" sz="4656"/>
            </a:pPr>
            <a:r>
              <a:t>Конструкторы в наследуемых классах должны обязательно вызывать super(...), и (!) делать это перед использованием this</a:t>
            </a:r>
          </a:p>
          <a:p>
            <a:pPr marL="591312" indent="-591312" defTabSz="2365188">
              <a:lnSpc>
                <a:spcPct val="90000"/>
              </a:lnSpc>
              <a:spcBef>
                <a:spcPts val="4300"/>
              </a:spcBef>
              <a:buSzPct val="40000"/>
              <a:buBlip>
                <a:blip r:embed="rId3"/>
              </a:buBlip>
              <a:defRPr b="0" sz="4656"/>
            </a:pPr>
            <a:r>
              <a:t>У стрелочных функций нет </a:t>
            </a:r>
            <a:r>
              <a:rPr i="1"/>
              <a:t>super</a:t>
            </a:r>
            <a:endParaRPr i="1"/>
          </a:p>
          <a:p>
            <a:pPr marL="591312" indent="-591312" defTabSz="2365188">
              <a:lnSpc>
                <a:spcPct val="90000"/>
              </a:lnSpc>
              <a:spcBef>
                <a:spcPts val="4300"/>
              </a:spcBef>
              <a:buSzPct val="40000"/>
              <a:buBlip>
                <a:blip r:embed="rId3"/>
              </a:buBlip>
              <a:defRPr b="0" sz="4656"/>
            </a:pPr>
            <a:r>
              <a:t>Родительский конструктор всегда использует своё собственное значение поля, а не переопределённое.</a:t>
            </a:r>
          </a:p>
          <a:p>
            <a:pPr marL="591312" indent="-591312" defTabSz="2365188">
              <a:lnSpc>
                <a:spcPct val="90000"/>
              </a:lnSpc>
              <a:spcBef>
                <a:spcPts val="4300"/>
              </a:spcBef>
              <a:buSzPct val="40000"/>
              <a:buBlip>
                <a:blip r:embed="rId3"/>
              </a:buBlip>
              <a:defRPr b="0" sz="4656"/>
            </a:pPr>
            <a:r>
              <a:t>Если конструктора нет, он создаётся автоматически</a:t>
            </a:r>
          </a:p>
        </p:txBody>
      </p:sp>
      <p:sp>
        <p:nvSpPr>
          <p:cNvPr id="244" name="Переопределение"/>
          <p:cNvSpPr txBox="1"/>
          <p:nvPr>
            <p:ph type="title"/>
          </p:nvPr>
        </p:nvSpPr>
        <p:spPr>
          <a:xfrm>
            <a:off x="1206500" y="676654"/>
            <a:ext cx="21971000" cy="1434950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Переопределение</a:t>
            </a:r>
          </a:p>
        </p:txBody>
      </p:sp>
      <p:sp>
        <p:nvSpPr>
          <p:cNvPr id="245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6" name="class myPikachu extends Pikachu {…"/>
          <p:cNvSpPr txBox="1"/>
          <p:nvPr/>
        </p:nvSpPr>
        <p:spPr>
          <a:xfrm>
            <a:off x="636520" y="2389181"/>
            <a:ext cx="12836772" cy="10746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myPikachu extends Pikachu {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name = ‘Pikachu';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constructor(name, type, owner, age) {</a:t>
            </a:r>
          </a:p>
          <a:p>
            <a:pPr lvl="1"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super(name);</a:t>
            </a:r>
          </a:p>
          <a:p>
            <a:pPr lvl="1"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super(type);</a:t>
            </a:r>
          </a:p>
          <a:p>
            <a:pPr lvl="1"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super(owner);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this.age = age;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attack() {</a:t>
            </a:r>
          </a:p>
          <a:p>
            <a:pPr lvl="1"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alert(`${super.name} швыряет ${this.age}-вольтную  молнию!`);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Статические методы используются для функциональности, принадлежат классу «в целом», а не относятся к конкретному объекту класса.…"/>
          <p:cNvSpPr txBox="1"/>
          <p:nvPr>
            <p:ph type="body" idx="21"/>
          </p:nvPr>
        </p:nvSpPr>
        <p:spPr>
          <a:xfrm>
            <a:off x="13916792" y="2948217"/>
            <a:ext cx="9760302" cy="53106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573023" indent="-573023" defTabSz="2292038">
              <a:lnSpc>
                <a:spcPct val="90000"/>
              </a:lnSpc>
              <a:spcBef>
                <a:spcPts val="4200"/>
              </a:spcBef>
              <a:buSzPct val="40000"/>
              <a:buBlip>
                <a:blip r:embed="rId3"/>
              </a:buBlip>
              <a:defRPr b="0" sz="4512"/>
            </a:pPr>
            <a:r>
              <a:t>Статические методы используются для функциональности, принадлежат классу «в целом», а не относятся к конкретному объекту класса.</a:t>
            </a:r>
          </a:p>
          <a:p>
            <a:pPr marL="573023" indent="-573023" defTabSz="2292038">
              <a:lnSpc>
                <a:spcPct val="90000"/>
              </a:lnSpc>
              <a:spcBef>
                <a:spcPts val="4200"/>
              </a:spcBef>
              <a:buSzPct val="40000"/>
              <a:buBlip>
                <a:blip r:embed="rId3"/>
              </a:buBlip>
              <a:defRPr b="0" sz="4512"/>
            </a:pPr>
            <a:r>
              <a:t>Статические свойства и методы также наследуются.</a:t>
            </a:r>
          </a:p>
        </p:txBody>
      </p:sp>
      <p:sp>
        <p:nvSpPr>
          <p:cNvPr id="249" name="Статические свойства и методы"/>
          <p:cNvSpPr txBox="1"/>
          <p:nvPr>
            <p:ph type="title"/>
          </p:nvPr>
        </p:nvSpPr>
        <p:spPr>
          <a:xfrm>
            <a:off x="1206500" y="676654"/>
            <a:ext cx="21971000" cy="143495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r>
              <a:t>Статические свойства и методы</a:t>
            </a:r>
          </a:p>
        </p:txBody>
      </p:sp>
      <p:sp>
        <p:nvSpPr>
          <p:cNvPr id="250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1" name="class Pokemon {…"/>
          <p:cNvSpPr txBox="1"/>
          <p:nvPr/>
        </p:nvSpPr>
        <p:spPr>
          <a:xfrm>
            <a:off x="661920" y="2870511"/>
            <a:ext cx="12836772" cy="546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Pokemon {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static maxEvolution = 3;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constructor(name, evolution);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Pokemon.staticMethod = function() {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alert("Покемон эволюционирует");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};</a:t>
            </a:r>
          </a:p>
        </p:txBody>
      </p:sp>
      <p:sp>
        <p:nvSpPr>
          <p:cNvPr id="252" name="let pokemons = […"/>
          <p:cNvSpPr txBox="1"/>
          <p:nvPr/>
        </p:nvSpPr>
        <p:spPr>
          <a:xfrm>
            <a:off x="3289169" y="9019540"/>
            <a:ext cx="13241502" cy="3957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let pokemons = [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new Pokemon("HTML", 1),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new Pokemon("CSS", 1),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new Pokemon("JavaScript", 2)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];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Приватность и защищённость"/>
          <p:cNvSpPr txBox="1"/>
          <p:nvPr>
            <p:ph type="title"/>
          </p:nvPr>
        </p:nvSpPr>
        <p:spPr>
          <a:xfrm>
            <a:off x="469900" y="117854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Приватность и защищённость</a:t>
            </a:r>
          </a:p>
        </p:txBody>
      </p:sp>
      <p:sp>
        <p:nvSpPr>
          <p:cNvPr id="255" name="Номер слайда"/>
          <p:cNvSpPr txBox="1"/>
          <p:nvPr>
            <p:ph type="sldNum" sz="quarter" idx="4294967295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6" name="class Pokemon {…"/>
          <p:cNvSpPr txBox="1"/>
          <p:nvPr/>
        </p:nvSpPr>
        <p:spPr>
          <a:xfrm>
            <a:off x="814321" y="1428546"/>
            <a:ext cx="21735403" cy="12227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Pokemon {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#name;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readonly #owner;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protected _evolution;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type;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constructor(name = "Аноним", type, owner, evolution) {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this.#name = name;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this.type = type;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this.#owner = owner;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this._evolution = evolution;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getName() {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return this.#name;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getOwner() {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return this.#owner;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getEvolution() {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return this._evolution;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call() {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alert(`${this.#owner} вызывает ${this.#name}`);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2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</p:txBody>
      </p:sp>
      <p:sp>
        <p:nvSpPr>
          <p:cNvPr id="257" name="class Pikachu extends Pokemon {…"/>
          <p:cNvSpPr txBox="1"/>
          <p:nvPr/>
        </p:nvSpPr>
        <p:spPr>
          <a:xfrm>
            <a:off x="14157644" y="2703626"/>
            <a:ext cx="9012592" cy="967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class Pikachu extends Pokemon {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attack() {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alert(`${this.getName()} швыряет молнию!`);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evolve(newEvolution) {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this._evolution = newEvolution;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alert(`${this.getName()} эволюционировал в ${this._evolution}!`);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tryAccessProtectedField() {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  alert(`Эволюция: ${this._evolution}`);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  }</a:t>
            </a:r>
          </a:p>
          <a:p>
            <a:pPr algn="l">
              <a:lnSpc>
                <a:spcPct val="90000"/>
              </a:lnSpc>
              <a:defRPr sz="3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}</a:t>
            </a:r>
          </a:p>
        </p:txBody>
      </p:sp>
      <p:sp>
        <p:nvSpPr>
          <p:cNvPr id="258" name="Объявление"/>
          <p:cNvSpPr txBox="1"/>
          <p:nvPr>
            <p:ph type="body" sz="quarter" idx="4294967295"/>
          </p:nvPr>
        </p:nvSpPr>
        <p:spPr>
          <a:xfrm>
            <a:off x="1384300" y="1317426"/>
            <a:ext cx="21971000" cy="960042"/>
          </a:xfrm>
          <a:prstGeom prst="rect">
            <a:avLst/>
          </a:prstGeom>
        </p:spPr>
        <p:txBody>
          <a:bodyPr/>
          <a:lstStyle>
            <a:lvl1pPr marL="0" indent="0" algn="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Объявление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Защищённые свойства обычно начинаются с префикса _.…"/>
          <p:cNvSpPr txBox="1"/>
          <p:nvPr>
            <p:ph type="body" idx="21"/>
          </p:nvPr>
        </p:nvSpPr>
        <p:spPr>
          <a:xfrm>
            <a:off x="13555536" y="2707314"/>
            <a:ext cx="10350158" cy="101104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560831" indent="-560831" defTabSz="2243271">
              <a:lnSpc>
                <a:spcPct val="90000"/>
              </a:lnSpc>
              <a:spcBef>
                <a:spcPts val="4100"/>
              </a:spcBef>
              <a:buSzPct val="40000"/>
              <a:buBlip>
                <a:blip r:embed="rId3"/>
              </a:buBlip>
              <a:defRPr b="0" sz="4416"/>
            </a:pPr>
            <a:r>
              <a:t>Защищённые свойства обычно начинаются с префикса _.</a:t>
            </a:r>
          </a:p>
          <a:p>
            <a:pPr marL="560831" indent="-560831" defTabSz="2243271">
              <a:lnSpc>
                <a:spcPct val="90000"/>
              </a:lnSpc>
              <a:spcBef>
                <a:spcPts val="4100"/>
              </a:spcBef>
              <a:buSzPct val="40000"/>
              <a:buBlip>
                <a:blip r:embed="rId3"/>
              </a:buBlip>
              <a:defRPr b="0" sz="4416"/>
            </a:pPr>
            <a:r>
              <a:t>По умолчанию все свойства публичные.</a:t>
            </a:r>
          </a:p>
          <a:p>
            <a:pPr marL="560831" indent="-560831" defTabSz="2243271">
              <a:lnSpc>
                <a:spcPct val="90000"/>
              </a:lnSpc>
              <a:spcBef>
                <a:spcPts val="4100"/>
              </a:spcBef>
              <a:buSzPct val="40000"/>
              <a:buBlip>
                <a:blip r:embed="rId3"/>
              </a:buBlip>
              <a:defRPr b="0" sz="4416"/>
            </a:pPr>
            <a:r>
              <a:t>Для создания свойства readonly (только для чтения) достаточно не прописывать его setter и создавать его с помощью конструктора.</a:t>
            </a:r>
          </a:p>
          <a:p>
            <a:pPr marL="560831" indent="-560831" defTabSz="2243271">
              <a:lnSpc>
                <a:spcPct val="90000"/>
              </a:lnSpc>
              <a:spcBef>
                <a:spcPts val="4100"/>
              </a:spcBef>
              <a:buSzPct val="40000"/>
              <a:buBlip>
                <a:blip r:embed="rId3"/>
              </a:buBlip>
              <a:defRPr b="0" sz="4416"/>
            </a:pPr>
            <a:r>
              <a:t>Приватные свойства и методы должны начинаться </a:t>
            </a:r>
            <a:r>
              <a:t>с #. Они доступны только внутри класса. С приватными свойствами такое невозможно: this['#name'] не работает. </a:t>
            </a:r>
          </a:p>
        </p:txBody>
      </p:sp>
      <p:sp>
        <p:nvSpPr>
          <p:cNvPr id="261" name="Приватность и защищённость"/>
          <p:cNvSpPr txBox="1"/>
          <p:nvPr>
            <p:ph type="title"/>
          </p:nvPr>
        </p:nvSpPr>
        <p:spPr>
          <a:xfrm>
            <a:off x="1638300" y="575054"/>
            <a:ext cx="21971000" cy="143495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r>
              <a:t>Приватность и защищённость</a:t>
            </a:r>
          </a:p>
        </p:txBody>
      </p:sp>
      <p:sp>
        <p:nvSpPr>
          <p:cNvPr id="262" name="Номер слайда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3" name="const pika = new Pikachu(&quot;Пикачу&quot;, &quot;Электрический&quot;, &quot;Эш&quot;, &quot;Райчу&quot;);…"/>
          <p:cNvSpPr txBox="1"/>
          <p:nvPr/>
        </p:nvSpPr>
        <p:spPr>
          <a:xfrm>
            <a:off x="738121" y="3143561"/>
            <a:ext cx="12836771" cy="9237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const pika = new Pikachu("Пикачу", "Электрический", "Эш", "Райчу");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pika.attack(); // Атака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pika.evolve("Супер Райчу"); // Изменение защищённого поля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pika.tryAccessProtectedField(); // Эволюция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// Попытка изменить owner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// pika.#owner = "Другой тренер"; // Ошибка: приватное поле</a:t>
            </a:r>
          </a:p>
          <a:p>
            <a:pPr algn="l">
              <a:lnSpc>
                <a:spcPct val="90000"/>
              </a:lnSpc>
              <a:defRPr sz="4800">
                <a:solidFill>
                  <a:srgbClr val="00000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// console.log(pika.#name); // Ошибка: приватное поле</a:t>
            </a:r>
          </a:p>
        </p:txBody>
      </p:sp>
      <p:sp>
        <p:nvSpPr>
          <p:cNvPr id="264" name="Проверка"/>
          <p:cNvSpPr txBox="1"/>
          <p:nvPr>
            <p:ph type="body" sz="quarter" idx="4294967295"/>
          </p:nvPr>
        </p:nvSpPr>
        <p:spPr>
          <a:xfrm>
            <a:off x="622300" y="1381190"/>
            <a:ext cx="21971000" cy="96004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Проверка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Задание"/>
          <p:cNvSpPr txBox="1"/>
          <p:nvPr>
            <p:ph type="title"/>
          </p:nvPr>
        </p:nvSpPr>
        <p:spPr>
          <a:xfrm>
            <a:off x="1206499" y="771142"/>
            <a:ext cx="21971001" cy="1434949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Задание</a:t>
            </a:r>
          </a:p>
        </p:txBody>
      </p:sp>
      <p:sp>
        <p:nvSpPr>
          <p:cNvPr id="267" name="1 вариант: «Банковский счет» Реализуйте класс BankAccount, который максимально защищает данные клиента и предоставляет строго определенный интерфейс для работы.…"/>
          <p:cNvSpPr txBox="1"/>
          <p:nvPr>
            <p:ph type="body" idx="21"/>
          </p:nvPr>
        </p:nvSpPr>
        <p:spPr>
          <a:xfrm>
            <a:off x="1206500" y="2484580"/>
            <a:ext cx="20969288" cy="1031793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rPr b="1"/>
              <a:t>1 вариант: «Банковский счет»</a:t>
            </a:r>
            <a:br/>
            <a:r>
              <a:t>Реализуйте класс BankAccount, который максимально защищает данные клиента и предоставляет строго определенный интерфейс для работы.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AutoNum type="arabicPeriod" startAt="1"/>
              <a:defRPr b="0" sz="2016"/>
            </a:pPr>
            <a:r>
              <a:t>Используйте приватные поля.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accountNumber (номер счета, задается при создании).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balance (текущий баланс, изначально 0 или передается в конструктор).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ownerName (имя владельца).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AutoNum type="arabicPeriod" startAt="2"/>
              <a:defRPr b="0" sz="2016"/>
            </a:pPr>
            <a:r>
              <a:t>Реализуйте публичные методы: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deposit(amount) — пополнение счета. Не должен принимать отрицательные суммы и нуль (выбрасывать ошибку Error).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withdraw(amount) — снятие денег. Не должен позволять снять больше, чем есть на счете (выбрасывать ошибку, если недостаточно средств или сумма некорректна).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getBalance() — геттер для просмотра баланса (просто возвращает число).</a:t>
            </a:r>
          </a:p>
          <a:p>
            <a:pPr lvl="1" marL="0" indent="192023" defTabSz="1024102">
              <a:spcBef>
                <a:spcPts val="1800"/>
              </a:spcBef>
              <a:buSzTx/>
              <a:buNone/>
              <a:defRPr sz="2016"/>
            </a:pPr>
            <a:r>
              <a:t>Защищённый метод getAccountInfo() — возвращает строку "Владелец: [имя], Номер счета: ****[последние 4 цифры]". (Номер счета должен быть замаскирован).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AutoNum type="arabicPeriod" startAt="3"/>
              <a:defRPr b="0" sz="2016"/>
            </a:pPr>
            <a:r>
              <a:t>Статическое свойство: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Добавьте статическое свойство totalAccounts (приватное), которое будет считать количество созданных счетов.</a:t>
            </a:r>
          </a:p>
          <a:p>
            <a:pPr lvl="1" marL="707898" indent="-457200" defTabSz="1024102">
              <a:spcBef>
                <a:spcPts val="1800"/>
              </a:spcBef>
              <a:buClr>
                <a:srgbClr val="0F1115"/>
              </a:buClr>
              <a:buFont typeface="Times-Roman"/>
              <a:buChar char="◦"/>
              <a:defRPr sz="2016"/>
            </a:pPr>
            <a:r>
              <a:t>Добавьте статический метод getTotalAccounts(), который возвращает это число.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Проверка: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Times-Roman"/>
              <a:buAutoNum type="arabicPeriod" startAt="1"/>
              <a:defRPr b="0" sz="2016"/>
            </a:pPr>
            <a:r>
              <a:t>Попробуйте создать счет и обратиться напрямую к полю accountNumber или balance из внешнего кода (должна быть ошибка).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Times-Roman"/>
              <a:buAutoNum type="arabicPeriod" startAt="1"/>
              <a:defRPr b="0" sz="2016"/>
            </a:pPr>
            <a:r>
              <a:t>Пополните счет, снимите деньги.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Times-Roman"/>
              <a:buAutoNum type="arabicPeriod" startAt="1"/>
              <a:defRPr b="0" sz="2016"/>
            </a:pPr>
            <a:r>
              <a:t>Попробуйте снять больше, чем есть (должна быть ошибка).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Times-Roman"/>
              <a:buAutoNum type="arabicPeriod" startAt="1"/>
              <a:defRPr b="0" sz="2016"/>
            </a:pPr>
            <a:r>
              <a:t>Выведите информацию о счете и убедитесь, что номер скрыт.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Times-Roman"/>
              <a:buAutoNum type="arabicPeriod" startAt="1"/>
              <a:defRPr b="0" sz="2016"/>
            </a:pPr>
            <a:r>
              <a:t>Создайте несколько счетов и проверьте статический счетчик.</a:t>
            </a:r>
          </a:p>
        </p:txBody>
      </p:sp>
      <p:sp>
        <p:nvSpPr>
          <p:cNvPr id="268" name="Номер слайда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Задание"/>
          <p:cNvSpPr txBox="1"/>
          <p:nvPr>
            <p:ph type="title"/>
          </p:nvPr>
        </p:nvSpPr>
        <p:spPr>
          <a:xfrm>
            <a:off x="1206500" y="83266"/>
            <a:ext cx="21971001" cy="1434950"/>
          </a:xfrm>
          <a:prstGeom prst="rect">
            <a:avLst/>
          </a:prstGeom>
        </p:spPr>
        <p:txBody>
          <a:bodyPr/>
          <a:lstStyle>
            <a:lvl1pPr algn="r"/>
          </a:lstStyle>
          <a:p>
            <a:pPr/>
            <a:r>
              <a:t>Задание</a:t>
            </a:r>
          </a:p>
        </p:txBody>
      </p:sp>
      <p:sp>
        <p:nvSpPr>
          <p:cNvPr id="271" name="2 вариант: «Система управления космическим кораблем»…"/>
          <p:cNvSpPr txBox="1"/>
          <p:nvPr>
            <p:ph type="body" idx="21"/>
          </p:nvPr>
        </p:nvSpPr>
        <p:spPr>
          <a:xfrm>
            <a:off x="2120900" y="1135258"/>
            <a:ext cx="20969288" cy="1214429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rPr b="1"/>
              <a:t>2 вариант: «Система управления космическим кораблем»</a:t>
            </a:r>
            <a:br/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Класс: Starship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Приватные поля: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Menlo Regular"/>
              <a:buChar char="•"/>
              <a:defRPr b="0" sz="2016"/>
            </a:pPr>
            <a:r>
              <a:t>name (название корабля, задается при создании).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Menlo Regular"/>
              <a:buChar char="•"/>
              <a:defRPr b="0" sz="2016"/>
            </a:pPr>
            <a:r>
              <a:t>fuel (текущий уровень топлива, изначально 100 или передается в конструктор).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Menlo Regular"/>
              <a:buChar char="•"/>
              <a:defRPr b="0" sz="2016"/>
            </a:pPr>
            <a:r>
              <a:t>hullIntegrity (целостность корпуса в процентах, изначально 100).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Menlo Regular"/>
              <a:buChar char="•"/>
              <a:defRPr b="0" sz="2016"/>
            </a:pPr>
            <a:r>
              <a:t>missionLog (массив для записи событий полета).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Публичные методы: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Menlo Regular"/>
              <a:buAutoNum type="arabicPeriod" startAt="1"/>
              <a:defRPr b="0" sz="2016"/>
            </a:pPr>
            <a:r>
              <a:t>launch() — запуск корабля. Проверяет, что топлива &gt;= 20. Если да, пишет в лог "Миссия началась" и списывает 10 топлива. Если нет — выбрасывает ошибку "Недостаточно топлива для старта".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Menlo Regular"/>
              <a:buAutoNum type="arabicPeriod" startAt="1"/>
              <a:defRPr b="0" sz="2016"/>
            </a:pPr>
            <a:r>
              <a:t>damage(amount) — корабль получает повреждения (уменьшает #hullIntegrity). Нельзя уйти в минус (минимум 0). При получении урона записывает в лог: "Получены повреждения: -[amount]%".</a:t>
            </a:r>
          </a:p>
          <a:p>
            <a:pPr marL="515873" indent="-457200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00000"/>
              <a:buFont typeface="Menlo Regular"/>
              <a:buAutoNum type="arabicPeriod" startAt="1"/>
              <a:defRPr b="0" sz="2016"/>
            </a:pPr>
            <a:r>
              <a:t> chargeEngine(amount) — заправка корабля. Увеличивает #fuel, но не больше 100. Записывает в лог: "Заправка: +[amount] топлива" (или "Заправка: +[реальное_количество] (избыток сгорел)»).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Защищённый метод getStatus() — возвращает строку: "Корабль [name] | Топливо: [fuel]% | Корпус: [hull]%".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Статика: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Char char="•"/>
              <a:defRPr b="0" sz="2016"/>
            </a:pPr>
            <a:r>
              <a:t>Приватное статическое поле #totalShips (счетчик созданных кораблей).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Char char="•"/>
              <a:defRPr b="0" sz="2016"/>
            </a:pPr>
            <a:r>
              <a:t>Публичный статический метод getFleetCount().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Проверка: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Метод chargeEngine(amount) — заправка корабля.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Char char="•"/>
              <a:defRPr b="0" sz="2016"/>
            </a:pPr>
            <a:r>
              <a:t>Проверка 1: amount должно быть положительным числом. Иначе ошибка: "Количество топлива должно быть положительным".</a:t>
            </a:r>
          </a:p>
          <a:p>
            <a:pPr marL="458723" indent="-400049" defTabSz="1024102">
              <a:lnSpc>
                <a:spcPct val="90000"/>
              </a:lnSpc>
              <a:spcBef>
                <a:spcPts val="1800"/>
              </a:spcBef>
              <a:buClr>
                <a:srgbClr val="0F1115"/>
              </a:buClr>
              <a:buSzPct val="123000"/>
              <a:buFont typeface="Times-Roman"/>
              <a:buChar char="•"/>
              <a:defRPr b="0" sz="2016"/>
            </a:pPr>
            <a:r>
              <a:t>Проверка 2: Нельзя заправить больше, чем вмещает бак (максимум 100). Если #fuel + amount &gt; 100, то заправляем только до 100, а остаток сгорает (или можно выбросить ошибку, но интереснее заправить частично с уведомлением в лог).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Метод launch() — запуск двигателя. Проверка - если isEngineOnline уже true — ошибка: "Двигатель уже запущен».</a:t>
            </a:r>
          </a:p>
          <a:p>
            <a:pPr defTabSz="1024102">
              <a:lnSpc>
                <a:spcPct val="90000"/>
              </a:lnSpc>
              <a:spcBef>
                <a:spcPts val="1800"/>
              </a:spcBef>
              <a:defRPr b="0" sz="2016"/>
            </a:pPr>
            <a:r>
              <a:t>Выведите результат getStatus() в консоль.</a:t>
            </a:r>
          </a:p>
        </p:txBody>
      </p:sp>
      <p:sp>
        <p:nvSpPr>
          <p:cNvPr id="272" name="Номер слайда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На этом всё…"/>
          <p:cNvSpPr txBox="1"/>
          <p:nvPr>
            <p:ph type="ctrTitle"/>
          </p:nvPr>
        </p:nvSpPr>
        <p:spPr>
          <a:xfrm>
            <a:off x="1206498" y="250196"/>
            <a:ext cx="21971004" cy="2070796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На этом всё…</a:t>
            </a:r>
          </a:p>
        </p:txBody>
      </p:sp>
      <p:pic>
        <p:nvPicPr>
          <p:cNvPr id="275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64000" y="2508250"/>
            <a:ext cx="16256000" cy="1083310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